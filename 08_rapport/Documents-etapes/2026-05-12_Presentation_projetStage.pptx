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9" r:id="rId4"/>
    <p:sldId id="260" r:id="rId5"/>
    <p:sldId id="261" r:id="rId6"/>
    <p:sldId id="262" r:id="rId7"/>
    <p:sldId id="271" r:id="rId8"/>
    <p:sldId id="269" r:id="rId9"/>
    <p:sldId id="268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-5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5AECA66-D291-1A81-89F4-28D187C7B2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F3FCD8-B288-E94C-CD09-B8FC087277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339CAE-DD35-46BA-8FE0-AE92D9018ECE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1C1CDF-554B-E94D-D82A-FE20CA7D33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432A64-E498-5BF5-86EB-B66234AF41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1BEBB5-EE1D-46E3-ACFA-2F059836036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86020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BAD76E-381D-4ED8-A964-6181A09F9E9B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4C065-7913-4BF8-BFCB-48224AC323A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01011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32202-760E-9594-69A2-AC0A0D4E4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89240F-093B-855E-68DA-32A5AFDCD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44521-4B8B-E6F1-2996-978E168DE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2A214-5AA1-41D7-ABAD-E733AE5AD467}" type="datetime1">
              <a:rPr lang="fr-FR" smtClean="0"/>
              <a:t>12/05/2026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70EE9-7889-D0A5-6543-A51775EB7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E4DC4-843C-7B7A-A0A8-53A1E093E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FFB45-315C-48A6-AD39-5B3233383C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4216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70DC3-B318-8605-20DD-26DF6FBD7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45AAB-6D6C-9C80-F0F4-9ACA4186F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3AA09-A0DA-429F-187B-C645CA11A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2C94F-7D51-430E-A2A1-4E6F7770F19C}" type="datetime1">
              <a:rPr lang="fr-FR" smtClean="0"/>
              <a:t>12/05/2026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C7F45-77D9-0742-7471-EC7FD94D8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C1B6C-8A50-1C49-128E-5184626A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FFB45-315C-48A6-AD39-5B3233383C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6629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9BA3F-1F08-CC57-5EBD-BAE7E50BD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34F32-B0FB-4DBE-AB0F-339A0493C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7DDDF-6B78-99BB-C568-02343A6F9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18AAE-69D5-4504-ACE5-7AD50AB3D1A7}" type="datetime1">
              <a:rPr lang="fr-FR" smtClean="0"/>
              <a:t>12/05/2026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1F246-748C-1A94-B0E8-13ED4A75D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C158F-661F-E0E3-7277-29B2B5116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FFB45-315C-48A6-AD39-5B3233383C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606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2F9D6-D850-D051-FBBB-C78FE5A31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BE53C-E5A9-BFBF-23BA-3E062F8289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71DE3-9128-6AA5-E917-7864828FE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6689F-3E8E-B6C3-F490-96967E542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9AE8-95B5-4628-9316-8F4444AD5C97}" type="datetime1">
              <a:rPr lang="fr-FR" smtClean="0"/>
              <a:t>12/05/2026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7957E-A586-282E-A635-29BF23D31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801722-87A7-7A8B-F92E-D2A5DDFCF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FFB45-315C-48A6-AD39-5B3233383C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8607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00CBB-3C17-8834-175D-81902851D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A153E-8BA8-FEB8-29F1-AA05C37D3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F7A1B-0639-E6A8-AB70-427637AF4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7C9722-ED9B-7885-63C7-2F9A15FD6D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2A10F0-4BD1-FA40-F8D9-69E8B1B19C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A54E47-4525-CE8A-C616-7A60CB6BE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52497-DD72-493A-A5D4-5ED2F31B8F22}" type="datetime1">
              <a:rPr lang="fr-FR" smtClean="0"/>
              <a:t>12/05/2026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98E6B6-C521-B78B-CADC-B0DEE852B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2B17BC-3FD2-CB93-887A-0B4F5E32E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FFB45-315C-48A6-AD39-5B3233383C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1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6E89C-F9E0-2043-8CA9-31C970981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9880A4-5BEE-CFF2-35BE-4823B89BE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EA335-196C-45CE-996D-B64F8FC92BF1}" type="datetime1">
              <a:rPr lang="fr-FR" smtClean="0"/>
              <a:t>12/05/2026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96A156-CB40-80B1-EB13-06E029A35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2894F9-6DF7-0F1F-23FA-BBC5601B9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FFB45-315C-48A6-AD39-5B3233383C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097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1A1713-8AF1-5625-FBD9-995EA1E39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4CF5-57CE-4B16-A23C-33ECABBB1C92}" type="datetime1">
              <a:rPr lang="fr-FR" smtClean="0"/>
              <a:t>12/05/2026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95AAED-E419-BB50-887D-F75A107C7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3E92A-EC18-A0F0-A440-12BBBB050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FFB45-315C-48A6-AD39-5B3233383C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6936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2CCE0-38F1-1812-B707-97A3C28C2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A0005-33BB-60DC-08FE-B82F3EA9A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38BA8B-2ADB-AA2B-5953-CEEA17D63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7334-A3FB-E5FC-B771-8A30EB2BB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75B95-F92B-4FF6-9975-8CC3E8B499CE}" type="datetime1">
              <a:rPr lang="fr-FR" smtClean="0"/>
              <a:t>12/05/2026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C1BA65-C0FA-25A6-3CE2-D2DDDFB4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A0F98-1F6B-22C6-7DD0-EA38DE186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FFB45-315C-48A6-AD39-5B3233383C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9415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3B26F-E11C-E597-22BD-EF8238313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13D2A5-2D45-1DBA-D292-D8C5C02F37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6628B-C09A-C123-F9EB-49D030621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4A5EF-941E-3F11-2E8B-A93993962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95DB-2B2A-4B71-8B60-FADFAF406AD6}" type="datetime1">
              <a:rPr lang="fr-FR" smtClean="0"/>
              <a:t>12/05/2026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6E6F66-5590-16E4-F286-BE5664F28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BA8D4-F817-B5FB-4EB8-6D0E28F92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FFB45-315C-48A6-AD39-5B3233383C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596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B92F3-F7F3-29FC-85DF-AD4CD01A8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53BCC-6ADF-F323-4AAF-628C86AB35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EF130-1F94-9C9B-8DFE-A5CDFD684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2D4B4-A10A-4865-A6BB-B39CA4C2C59D}" type="datetime1">
              <a:rPr lang="fr-FR" smtClean="0"/>
              <a:t>12/05/2026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4C531-E5FD-A077-3252-AFFC59286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CDCE5-817C-B245-0691-9A6F1E66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FFB45-315C-48A6-AD39-5B3233383C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7322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24DF3F-DEE7-0266-BE97-300F805FA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21E4D0-22ED-2AE9-0F9D-54789AB15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797F7-127D-93B5-0DE0-2FA205714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F2109-CAE6-4B97-8A66-D3F1AB2C58BC}" type="datetime1">
              <a:rPr lang="fr-FR" smtClean="0"/>
              <a:t>12/05/2026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63627-A53B-4FB1-C91E-F6022B2A9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4002D-F2FD-83F5-A894-6C08B7060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FFB45-315C-48A6-AD39-5B3233383C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9620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C1BF49-E9AA-1BFB-D578-32027EFF2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D7F2E-7C97-84A4-421F-853B94495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831FE-01EF-319D-DA6A-5575E6936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E16682-4ADD-4CC3-82B7-F5144F8FD964}" type="datetime1">
              <a:rPr lang="fr-FR" smtClean="0"/>
              <a:t>12/05/2026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F924F-F6A7-EAC1-1C9F-44C50289D4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28887-89A9-2115-83F9-9DBF91ECA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6FFB45-315C-48A6-AD39-5B3233383C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6012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E4AE7-22E1-3BC7-CB90-E650385F17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Diagnostic social et écologique de la forêt de Tsiazombazaha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3A6538-5967-DAD5-EEE6-82F3F948E1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Présoutenance de stage d’Ewen Le Coeur (GEEFT)</a:t>
            </a:r>
          </a:p>
          <a:p>
            <a:r>
              <a:rPr lang="fr-FR" dirty="0"/>
              <a:t>Le 12 mai 2026</a:t>
            </a:r>
          </a:p>
          <a:p>
            <a:r>
              <a:rPr lang="fr-FR" dirty="0"/>
              <a:t>Alexandre Gaudin (tuteur) ; Léna </a:t>
            </a:r>
            <a:r>
              <a:rPr lang="fr-FR" dirty="0" err="1"/>
              <a:t>Aguilhon</a:t>
            </a:r>
            <a:r>
              <a:rPr lang="fr-FR" dirty="0"/>
              <a:t> (maître de stage) ; Damien Duportal (encadrant) ; </a:t>
            </a:r>
            <a:r>
              <a:rPr lang="fr-FR" dirty="0" err="1"/>
              <a:t>Eric</a:t>
            </a:r>
            <a:r>
              <a:rPr lang="fr-FR" dirty="0"/>
              <a:t> </a:t>
            </a:r>
            <a:r>
              <a:rPr lang="fr-FR" dirty="0" err="1"/>
              <a:t>Ravelomanarivo</a:t>
            </a:r>
            <a:r>
              <a:rPr lang="fr-FR" dirty="0"/>
              <a:t> (encadrant).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FFC075-3E69-A1AF-1039-D565239A8D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794412"/>
            <a:ext cx="2900034" cy="8057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F77018-A706-18E5-2232-47ADAC93FF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0895" y="719469"/>
            <a:ext cx="2807105" cy="881431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F3F59D1-5708-5D35-0923-FA3A7CB57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FFB45-315C-48A6-AD39-5B3233383CBE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93950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34238-CA1C-43FA-ACD7-8C04C6FCC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forêt de Tsiazombazaha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7007F-6DCF-E4B9-BE86-EF5251EEA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6744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fr-FR" dirty="0"/>
              <a:t>Madagascar</a:t>
            </a:r>
          </a:p>
          <a:p>
            <a:pPr lvl="1"/>
            <a:r>
              <a:rPr lang="fr-FR" dirty="0"/>
              <a:t>Biodiversité</a:t>
            </a:r>
          </a:p>
          <a:p>
            <a:pPr lvl="1"/>
            <a:r>
              <a:rPr lang="fr-FR" dirty="0"/>
              <a:t>Pauvreté</a:t>
            </a:r>
          </a:p>
          <a:p>
            <a:pPr lvl="1"/>
            <a:r>
              <a:rPr lang="fr-FR" dirty="0"/>
              <a:t>Déforestation</a:t>
            </a:r>
          </a:p>
          <a:p>
            <a:endParaRPr lang="fr-FR" dirty="0"/>
          </a:p>
          <a:p>
            <a:r>
              <a:rPr lang="fr-FR" dirty="0"/>
              <a:t>Le projet EcoBois</a:t>
            </a:r>
          </a:p>
          <a:p>
            <a:pPr lvl="1"/>
            <a:r>
              <a:rPr lang="fr-FR" dirty="0"/>
              <a:t>Reboisement</a:t>
            </a:r>
          </a:p>
          <a:p>
            <a:pPr lvl="1"/>
            <a:r>
              <a:rPr lang="fr-FR" dirty="0"/>
              <a:t>Protection, restauration</a:t>
            </a:r>
          </a:p>
          <a:p>
            <a:endParaRPr lang="fr-FR" dirty="0"/>
          </a:p>
          <a:p>
            <a:r>
              <a:rPr lang="fr-FR" dirty="0"/>
              <a:t>Un manque </a:t>
            </a:r>
            <a:br>
              <a:rPr lang="fr-FR" dirty="0"/>
            </a:br>
            <a:r>
              <a:rPr lang="fr-FR" dirty="0"/>
              <a:t>de connaissances</a:t>
            </a:r>
          </a:p>
          <a:p>
            <a:pPr lvl="1"/>
            <a:r>
              <a:rPr lang="fr-FR" dirty="0"/>
              <a:t>Écologie</a:t>
            </a:r>
          </a:p>
          <a:p>
            <a:pPr lvl="1"/>
            <a:r>
              <a:rPr lang="fr-FR" dirty="0"/>
              <a:t>Gestion</a:t>
            </a:r>
          </a:p>
          <a:p>
            <a:pPr lvl="1"/>
            <a:r>
              <a:rPr lang="fr-FR" dirty="0"/>
              <a:t>Importance sociale</a:t>
            </a:r>
          </a:p>
          <a:p>
            <a:endParaRPr lang="fr-FR" dirty="0"/>
          </a:p>
          <a:p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94818-EC74-82D5-60ED-280244313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FFB45-315C-48A6-AD39-5B3233383CBE}" type="slidenum">
              <a:rPr lang="fr-FR" smtClean="0"/>
              <a:t>2</a:t>
            </a:fld>
            <a:endParaRPr lang="fr-F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74444F-C40B-FBE9-88DA-AA6B6CFA5B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084" y="1597898"/>
            <a:ext cx="7122991" cy="457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193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1EE48-CB96-0CEE-C94C-7D10BDC6C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996EF-14B8-B189-69A2-1542E1AA8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Problématique(s)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F4451-A2BC-AEF2-71F4-B1DF3068F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fr-FR" b="1"/>
              <a:t>Pourquoi et comment conserver la forêt de Tsiazombazaha ?</a:t>
            </a:r>
          </a:p>
          <a:p>
            <a:pPr algn="just"/>
            <a:endParaRPr lang="fr-FR"/>
          </a:p>
          <a:p>
            <a:pPr marL="0" indent="0" algn="just">
              <a:buNone/>
            </a:pPr>
            <a:r>
              <a:rPr lang="fr-FR"/>
              <a:t>(1) Quelle est l’importance  (écologique, hydrologique, agricole, sociale, culturelle) de la forêt de Tsiazombazaha ?</a:t>
            </a:r>
          </a:p>
          <a:p>
            <a:pPr marL="0" indent="0" algn="just">
              <a:buNone/>
            </a:pPr>
            <a:r>
              <a:rPr lang="fr-FR"/>
              <a:t>(2) Quel est l’état actuel de conservation de la forêt de Tsiazombazaha, quelle est sa gestion et quelles sont les pressions qu’elle subit?</a:t>
            </a:r>
          </a:p>
          <a:p>
            <a:pPr marL="0" indent="0" algn="just">
              <a:buNone/>
            </a:pPr>
            <a:r>
              <a:rPr lang="fr-FR"/>
              <a:t>(3) Comment la stratégie de l’ONG Inter Aide peut-elle s’appuyer sur le VOI </a:t>
            </a:r>
            <a:r>
              <a:rPr lang="fr-FR" i="1"/>
              <a:t>Maharitra</a:t>
            </a:r>
            <a:r>
              <a:rPr lang="fr-FR"/>
              <a:t> pour conserver la forêt de Tsiazombazaha, et quelles actions devrait-elle mener ?</a:t>
            </a:r>
          </a:p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C7E0B-5264-775C-A2FB-56E025B47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FFB45-315C-48A6-AD39-5B3233383CB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4374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31AC03-E12C-0F54-7E3F-9CBCAA61D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2346CC-1709-B404-56FF-4B9D5E241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fr-FR" sz="5400"/>
              <a:t>Télédétection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1437A-4A42-1526-EE44-D9313D09D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fr-FR" sz="2200"/>
              <a:t>Évolution du couvert forestier</a:t>
            </a:r>
          </a:p>
          <a:p>
            <a:pPr lvl="1"/>
            <a:r>
              <a:rPr lang="fr-FR" sz="2200"/>
              <a:t>1973 à 2026</a:t>
            </a:r>
          </a:p>
          <a:p>
            <a:pPr lvl="1"/>
            <a:r>
              <a:rPr lang="fr-FR" sz="2200"/>
              <a:t>Annuelle ou par période</a:t>
            </a:r>
          </a:p>
          <a:p>
            <a:pPr lvl="1"/>
            <a:r>
              <a:rPr lang="fr-FR" sz="2200"/>
              <a:t>Classification (non?)-supervisée</a:t>
            </a:r>
          </a:p>
          <a:p>
            <a:pPr marL="0" indent="0">
              <a:buNone/>
            </a:pPr>
            <a:endParaRPr lang="fr-FR" sz="2200"/>
          </a:p>
          <a:p>
            <a:r>
              <a:rPr lang="fr-FR" sz="2200"/>
              <a:t>Unités paysagères et forestières</a:t>
            </a:r>
          </a:p>
          <a:p>
            <a:pPr lvl="1"/>
            <a:r>
              <a:rPr lang="fr-FR" sz="2200"/>
              <a:t>2026 uniquement</a:t>
            </a:r>
          </a:p>
          <a:p>
            <a:pPr lvl="1"/>
            <a:r>
              <a:rPr lang="fr-FR" sz="2200"/>
              <a:t>Classification non-supervisée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0FC032-5DC3-ABFE-223A-0A132B5B0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93" r="17640" b="-2"/>
          <a:stretch>
            <a:fillRect/>
          </a:stretch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73E1A-85B7-26AA-7866-A0C23D1DE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16FFB45-315C-48A6-AD39-5B3233383CBE}" type="slidenum">
              <a:rPr lang="fr-FR" smtClean="0"/>
              <a:pPr>
                <a:spcAft>
                  <a:spcPts val="600"/>
                </a:spcAft>
              </a:pPr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8171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42DA12-BAE8-A87D-A692-4F01A44F1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B4B1C3-D34E-B324-C47F-A43557A8A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fr-FR" sz="5000"/>
              <a:t>Cartographie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26ADE-8A0F-9D0D-3750-DCCBEE787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fr-FR" sz="2200"/>
              <a:t>Hydrologie</a:t>
            </a:r>
          </a:p>
          <a:p>
            <a:pPr lvl="1"/>
            <a:r>
              <a:rPr lang="fr-FR" sz="2200"/>
              <a:t>Remontée des cours d’eau avec un GPS</a:t>
            </a:r>
          </a:p>
          <a:p>
            <a:pPr lvl="1"/>
            <a:r>
              <a:rPr lang="fr-FR" sz="2200"/>
              <a:t>Coordination avec les autres récoltes de données</a:t>
            </a:r>
          </a:p>
          <a:p>
            <a:pPr marL="457200" lvl="1" indent="0">
              <a:buNone/>
            </a:pPr>
            <a:endParaRPr lang="fr-FR" sz="2200"/>
          </a:p>
          <a:p>
            <a:r>
              <a:rPr lang="fr-FR" sz="2200"/>
              <a:t>Chemins (optionnel)</a:t>
            </a:r>
          </a:p>
          <a:p>
            <a:pPr lvl="1"/>
            <a:r>
              <a:rPr lang="fr-FR" sz="2200"/>
              <a:t>Cartographie participative / Guides sur le terrain</a:t>
            </a:r>
          </a:p>
          <a:p>
            <a:pPr lvl="1"/>
            <a:r>
              <a:rPr lang="fr-FR" sz="2200"/>
              <a:t>Relevé GPS systématique</a:t>
            </a:r>
          </a:p>
          <a:p>
            <a:pPr lvl="1"/>
            <a:endParaRPr lang="fr-FR" sz="2200"/>
          </a:p>
          <a:p>
            <a:r>
              <a:rPr lang="fr-FR" sz="2200"/>
              <a:t>Foncier (optionnel)</a:t>
            </a:r>
          </a:p>
          <a:p>
            <a:pPr lvl="1"/>
            <a:r>
              <a:rPr lang="fr-FR" sz="2200"/>
              <a:t>Délimitation des parcelles réclamées</a:t>
            </a:r>
          </a:p>
          <a:p>
            <a:pPr lvl="1"/>
            <a:r>
              <a:rPr lang="fr-FR" sz="2200"/>
              <a:t>Cartographie participative avec les Tranobe</a:t>
            </a:r>
            <a:endParaRPr lang="fr-FR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6C42E-4F10-DA9C-82DC-9F219A1DE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16FFB45-315C-48A6-AD39-5B3233383CBE}" type="slidenum">
              <a:rPr lang="fr-FR" smtClean="0"/>
              <a:pPr>
                <a:spcAft>
                  <a:spcPts val="600"/>
                </a:spcAft>
              </a:pPr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1024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225915-AB46-5783-AACC-8747DCF4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86A978-269D-8E7F-76E4-47DCC9D00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fr-FR" sz="5400"/>
              <a:t>Écologie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60FF2-11AF-CDCF-BF74-EB999EA4C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fr-FR" sz="2000"/>
              <a:t>Inventaire forestier</a:t>
            </a:r>
          </a:p>
          <a:p>
            <a:pPr lvl="1"/>
            <a:r>
              <a:rPr lang="fr-FR" sz="2000"/>
              <a:t>Échantillonnage systématique</a:t>
            </a:r>
          </a:p>
          <a:p>
            <a:pPr lvl="1"/>
            <a:r>
              <a:rPr lang="fr-FR" sz="2000"/>
              <a:t>Grande flore (DBH&gt;5) et macrofaune</a:t>
            </a:r>
          </a:p>
          <a:p>
            <a:pPr lvl="1"/>
            <a:r>
              <a:rPr lang="fr-FR" sz="2000"/>
              <a:t>Hauteur, recouvrement, traces d’activité humaine</a:t>
            </a:r>
          </a:p>
          <a:p>
            <a:pPr lvl="1"/>
            <a:endParaRPr lang="fr-FR" sz="2000"/>
          </a:p>
          <a:p>
            <a:r>
              <a:rPr lang="fr-FR" sz="2000"/>
              <a:t>Traitement des données</a:t>
            </a:r>
          </a:p>
          <a:p>
            <a:pPr lvl="1"/>
            <a:r>
              <a:rPr lang="fr-FR" sz="2000"/>
              <a:t>Calcul des variables écologiques</a:t>
            </a:r>
          </a:p>
          <a:p>
            <a:pPr lvl="1"/>
            <a:r>
              <a:rPr lang="fr-FR" sz="2000"/>
              <a:t>Statut de conservation et usages et usages des espèces</a:t>
            </a:r>
          </a:p>
          <a:p>
            <a:pPr lvl="1"/>
            <a:r>
              <a:rPr lang="fr-FR" sz="2000"/>
              <a:t>Typologie et cartographie des types de forêts (dont état de dégradation)</a:t>
            </a:r>
          </a:p>
        </p:txBody>
      </p:sp>
      <p:pic>
        <p:nvPicPr>
          <p:cNvPr id="5" name="Picture 4" descr="Ravenale - Vikidia, l'encyclopédie des 8-13 ans">
            <a:extLst>
              <a:ext uri="{FF2B5EF4-FFF2-40B4-BE49-F238E27FC236}">
                <a16:creationId xmlns:a16="http://schemas.microsoft.com/office/drawing/2014/main" id="{92832E27-21C2-6CBA-EC03-2750C7DF50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039" r="-2" b="-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FB96E-52AD-8001-BA78-8292C4AD3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16FFB45-315C-48A6-AD39-5B3233383CBE}" type="slidenum">
              <a:rPr lang="fr-FR" smtClean="0"/>
              <a:pPr>
                <a:spcAft>
                  <a:spcPts val="600"/>
                </a:spcAft>
              </a:pPr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3068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96961F-8E15-7C33-0DE3-5B7020046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F66788-8CF0-FD8F-0C18-946A40ED6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FR" sz="5400" dirty="0"/>
              <a:t>Sociologie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24E7D-FE33-D8E7-7C9D-4825CA91F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2400" b="1" dirty="0"/>
              <a:t>Objectifs</a:t>
            </a:r>
          </a:p>
          <a:p>
            <a:r>
              <a:rPr lang="fr-FR" sz="2400" dirty="0"/>
              <a:t>Compréhension du VOI et de sa perception</a:t>
            </a:r>
          </a:p>
          <a:p>
            <a:r>
              <a:rPr lang="fr-FR" sz="2400" dirty="0"/>
              <a:t>Usages et valeurs associée à la forêt</a:t>
            </a:r>
          </a:p>
          <a:p>
            <a:r>
              <a:rPr lang="fr-FR" sz="2400" dirty="0"/>
              <a:t>Identification des pressions et conflits</a:t>
            </a:r>
          </a:p>
          <a:p>
            <a:r>
              <a:rPr lang="fr-FR" sz="2400" dirty="0"/>
              <a:t>Avenir, besoins, volontés des bénéficiaires</a:t>
            </a:r>
          </a:p>
          <a:p>
            <a:endParaRPr lang="fr-FR" sz="2400" dirty="0"/>
          </a:p>
          <a:p>
            <a:pPr marL="0" indent="0">
              <a:buNone/>
            </a:pPr>
            <a:r>
              <a:rPr lang="fr-FR" sz="2400" b="1" dirty="0"/>
              <a:t>Méthodes</a:t>
            </a:r>
          </a:p>
          <a:p>
            <a:r>
              <a:rPr lang="fr-FR" sz="2400" dirty="0"/>
              <a:t>Questionnaires</a:t>
            </a:r>
          </a:p>
          <a:p>
            <a:r>
              <a:rPr lang="fr-FR" sz="2400" dirty="0"/>
              <a:t>Entretiens semi-directifs</a:t>
            </a:r>
          </a:p>
          <a:p>
            <a:r>
              <a:rPr lang="fr-FR" sz="2400" dirty="0"/>
              <a:t>Cartographie participative (?)</a:t>
            </a:r>
          </a:p>
          <a:p>
            <a:r>
              <a:rPr lang="fr-FR" sz="2400" dirty="0"/>
              <a:t>Focus groups (?)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8C22A-D889-8E82-4762-CB1FD4454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16FFB45-315C-48A6-AD39-5B3233383CBE}" type="slidenum">
              <a:rPr lang="fr-FR" smtClean="0"/>
              <a:pPr>
                <a:spcAft>
                  <a:spcPts val="600"/>
                </a:spcAft>
              </a:pPr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9160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B50A9-B3EE-D677-886E-5B67D8A08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fr-FR" sz="5400"/>
              <a:t>Livrables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81475DC-116A-2601-E997-1A0F620CF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fr-FR" sz="2200" dirty="0"/>
              <a:t>Rapport de stage</a:t>
            </a:r>
          </a:p>
          <a:p>
            <a:r>
              <a:rPr lang="fr-FR" sz="2200" dirty="0"/>
              <a:t>Document synthétique des résultats avec recommandations stratégiques</a:t>
            </a:r>
          </a:p>
          <a:p>
            <a:r>
              <a:rPr lang="fr-FR" sz="2200" dirty="0"/>
              <a:t>Notes d’une à deux pages en </a:t>
            </a:r>
            <a:r>
              <a:rPr lang="fr-FR" sz="2200" i="1" dirty="0"/>
              <a:t>malagasy</a:t>
            </a:r>
            <a:r>
              <a:rPr lang="fr-FR" sz="2200" dirty="0"/>
              <a:t> à destination des techniciens et/ou des bénéficiaires</a:t>
            </a:r>
          </a:p>
          <a:p>
            <a:r>
              <a:rPr lang="fr-FR" sz="2200" dirty="0"/>
              <a:t>Fichiers de données structurées avec métadonnées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D543E-7B7E-600B-15E1-EAC51AABF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16FFB45-315C-48A6-AD39-5B3233383CBE}" type="slidenum">
              <a:rPr lang="fr-FR" smtClean="0"/>
              <a:pPr>
                <a:spcAft>
                  <a:spcPts val="600"/>
                </a:spcAft>
              </a:pPr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1222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B69BA-51E4-A09B-CED8-C85C66E95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D3D9-F14D-E4FB-E643-5B63EF5D07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Merci pour votre attention 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93ED67-9669-A05E-803B-9D6953119E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Place au temps d’échange.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4F2DB-3EC4-4CE2-0C51-7A3483B39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FFB45-315C-48A6-AD39-5B3233383CBE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4346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371</Words>
  <Application>Microsoft Office PowerPoint</Application>
  <PresentationFormat>Widescreen</PresentationFormat>
  <Paragraphs>86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Diagnostic social et écologique de la forêt de Tsiazombazaha</vt:lpstr>
      <vt:lpstr>La forêt de Tsiazombazaha</vt:lpstr>
      <vt:lpstr>Problématique(s)</vt:lpstr>
      <vt:lpstr>Télédétection</vt:lpstr>
      <vt:lpstr>Cartographie</vt:lpstr>
      <vt:lpstr>Écologie</vt:lpstr>
      <vt:lpstr>Sociologie</vt:lpstr>
      <vt:lpstr>Livrables</vt:lpstr>
      <vt:lpstr>Merci pour votre attention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Ewen LE COEUR</dc:creator>
  <cp:lastModifiedBy>Ewen LE COEUR</cp:lastModifiedBy>
  <cp:revision>15</cp:revision>
  <dcterms:created xsi:type="dcterms:W3CDTF">2026-05-11T19:35:27Z</dcterms:created>
  <dcterms:modified xsi:type="dcterms:W3CDTF">2026-05-12T11:12:54Z</dcterms:modified>
</cp:coreProperties>
</file>